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Helvetica Neue"/>
      <p:regular r:id="rId18"/>
      <p:bold r:id="rId19"/>
      <p:italic r:id="rId20"/>
      <p:boldItalic r:id="rId21"/>
    </p:embeddedFont>
    <p:embeddedFont>
      <p:font typeface="Helvetica Neue Ligh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jBoCWC5YpuvREroVBEiyGImIFB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italic.fntdata"/><Relationship Id="rId22" Type="http://schemas.openxmlformats.org/officeDocument/2006/relationships/font" Target="fonts/HelveticaNeueLight-regular.fntdata"/><Relationship Id="rId21" Type="http://schemas.openxmlformats.org/officeDocument/2006/relationships/font" Target="fonts/HelveticaNeue-boldItalic.fntdata"/><Relationship Id="rId24" Type="http://schemas.openxmlformats.org/officeDocument/2006/relationships/font" Target="fonts/HelveticaNeueLight-italic.fntdata"/><Relationship Id="rId23" Type="http://schemas.openxmlformats.org/officeDocument/2006/relationships/font" Target="fonts/HelveticaNeueLigh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HelveticaNeueLigh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HelveticaNeue-bold.fntdata"/><Relationship Id="rId18" Type="http://schemas.openxmlformats.org/officeDocument/2006/relationships/font" Target="fonts/HelveticaNeu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ad75a16e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aad75a16e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ad75a16ed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aad75a16ed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ad75a16ed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aad75a16ed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231aeda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b231aedad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Design">
  <p:cSld name="2_Design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idx="11" type="ftr"/>
          </p:nvPr>
        </p:nvSpPr>
        <p:spPr>
          <a:xfrm>
            <a:off x="628650" y="4767263"/>
            <a:ext cx="7886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1" type="ftr"/>
          </p:nvPr>
        </p:nvSpPr>
        <p:spPr>
          <a:xfrm>
            <a:off x="628650" y="4767263"/>
            <a:ext cx="7886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5F91"/>
              </a:buClr>
              <a:buSzPts val="5200"/>
              <a:buFont typeface="Helvetica Neue Light"/>
              <a:buNone/>
              <a:defRPr sz="5200">
                <a:solidFill>
                  <a:srgbClr val="365F9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" name="Google Shape;23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9BE5"/>
              </a:buClr>
              <a:buSzPts val="2800"/>
              <a:buNone/>
              <a:defRPr sz="2800">
                <a:solidFill>
                  <a:srgbClr val="039BE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ctrTitle"/>
          </p:nvPr>
        </p:nvSpPr>
        <p:spPr>
          <a:xfrm>
            <a:off x="311700" y="2210400"/>
            <a:ext cx="8520600" cy="72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5F91"/>
              </a:buClr>
              <a:buSzPts val="3600"/>
              <a:buNone/>
              <a:defRPr b="1" sz="3600">
                <a:solidFill>
                  <a:srgbClr val="365F9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17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Agenda</a:t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" name="Google Shape;3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dvantages &amp; Disadvantages">
  <p:cSld name="Advantages &amp; Disadvantage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" name="Google Shape;41;p18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Advantages &amp; Disadvantages</a:t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5" name="Google Shape;4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" name="Google Shape;4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3" name="Google Shape;5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4" name="Google Shape;5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urce">
  <p:cSld name="Sourc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2"/>
          <p:cNvSpPr txBox="1"/>
          <p:nvPr>
            <p:ph idx="1" type="subTitle"/>
          </p:nvPr>
        </p:nvSpPr>
        <p:spPr>
          <a:xfrm>
            <a:off x="147300" y="4839475"/>
            <a:ext cx="1509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i="1" sz="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4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62" name="Google Shape;62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Thank you slide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5"/>
          <p:cNvSpPr txBox="1"/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0" i="0" lang="en-US" sz="5200" u="none" cap="none" strike="noStrike">
                <a:solidFill>
                  <a:srgbClr val="365F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</a:t>
            </a:r>
            <a:r>
              <a:rPr b="0" i="0" lang="en-US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5200" u="none" cap="none" strike="noStrike">
                <a:solidFill>
                  <a:srgbClr val="039BE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you!</a:t>
            </a:r>
            <a:endParaRPr b="0" i="0" sz="5200" u="none" cap="none" strike="noStrike">
              <a:solidFill>
                <a:srgbClr val="999999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6" name="Google Shape;66;p25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Happy Learning :)</a:t>
            </a:r>
            <a:endParaRPr b="0" i="0" sz="2800" u="none" cap="none" strike="noStrike">
              <a:solidFill>
                <a:srgbClr val="5959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b="0" i="0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○"/>
              <a:defRPr b="0" i="0" sz="1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■"/>
              <a:defRPr b="0" i="0" sz="1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●"/>
              <a:defRPr b="0" i="0" sz="1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○"/>
              <a:defRPr b="0" i="0" sz="1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■"/>
              <a:defRPr b="0" i="0" sz="1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●"/>
              <a:defRPr b="0" i="0" sz="1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○"/>
              <a:defRPr b="0" i="0" sz="1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Helvetica Neue"/>
              <a:buChar char="■"/>
              <a:defRPr b="0" i="0" sz="1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" name="Google Shape;9;p9"/>
          <p:cNvSpPr txBox="1"/>
          <p:nvPr/>
        </p:nvSpPr>
        <p:spPr>
          <a:xfrm>
            <a:off x="2234400" y="4867800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0" name="Google Shape;10;p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591125" y="141250"/>
            <a:ext cx="1488323" cy="52250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"/>
          <p:cNvSpPr txBox="1"/>
          <p:nvPr>
            <p:ph type="title"/>
          </p:nvPr>
        </p:nvSpPr>
        <p:spPr>
          <a:xfrm>
            <a:off x="311700" y="587298"/>
            <a:ext cx="8520600" cy="6879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4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Promotion Impact Analysis on Sales – XYZ E-Commerce</a:t>
            </a:r>
            <a:endParaRPr b="1" sz="4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"/>
          <p:cNvSpPr txBox="1"/>
          <p:nvPr>
            <p:ph idx="1" type="body"/>
          </p:nvPr>
        </p:nvSpPr>
        <p:spPr>
          <a:xfrm>
            <a:off x="5360020" y="1940312"/>
            <a:ext cx="3011363" cy="266885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000" u="sng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The Team:</a:t>
            </a:r>
            <a:endParaRPr sz="200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Aparna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Hariprasad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Prasanna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Ramya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Sai Krishna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Sridharan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2C2C2C"/>
              </a:solidFill>
            </a:endParaRPr>
          </a:p>
        </p:txBody>
      </p:sp>
      <p:pic>
        <p:nvPicPr>
          <p:cNvPr descr="5 Promotion Analysis Lessons to Take ..." id="73" name="Google Shape;7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230" y="2051824"/>
            <a:ext cx="3517746" cy="2312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/>
          <p:nvPr>
            <p:ph type="title"/>
          </p:nvPr>
        </p:nvSpPr>
        <p:spPr>
          <a:xfrm>
            <a:off x="311700" y="97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4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1" sz="4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 txBox="1"/>
          <p:nvPr>
            <p:ph idx="1" type="body"/>
          </p:nvPr>
        </p:nvSpPr>
        <p:spPr>
          <a:xfrm>
            <a:off x="311700" y="863550"/>
            <a:ext cx="8520600" cy="27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XYZ E-Commerce runs promotional campaigns to boost product sales across different categories and regions.</a:t>
            </a:r>
            <a:endParaRPr sz="160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However, the effectiveness of these promotions on actual sales performance is not clearly understood.</a:t>
            </a:r>
            <a:endParaRPr sz="160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The objective of this project is to analyze historical sales data to evaluate whether promotions have a significant impact on sales. </a:t>
            </a:r>
            <a:endParaRPr sz="160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Using exploratory data analysis and regression modeling, the study aims to identify sales patterns, key influencing factors, and provide actionable insights to support data-driven marketing decisions.</a:t>
            </a:r>
            <a:endParaRPr sz="1600"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2C2C2C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4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Project Life Cycle</a:t>
            </a:r>
            <a:endParaRPr b="1" sz="4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 txBox="1"/>
          <p:nvPr>
            <p:ph idx="1" type="body"/>
          </p:nvPr>
        </p:nvSpPr>
        <p:spPr>
          <a:xfrm>
            <a:off x="407810" y="1813932"/>
            <a:ext cx="8520600" cy="22467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Data Collection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0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Data Cleaning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Exploratory Data Analysis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Data Preprocessing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Model Building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Model Evaluation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Business Metrics &amp; Insights</a:t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4419600" y="1813932"/>
            <a:ext cx="3795132" cy="2943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2995" y="1280221"/>
            <a:ext cx="5374888" cy="3321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4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Data Collection</a:t>
            </a:r>
            <a:endParaRPr b="1" sz="4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 txBox="1"/>
          <p:nvPr>
            <p:ph idx="1" type="body"/>
          </p:nvPr>
        </p:nvSpPr>
        <p:spPr>
          <a:xfrm>
            <a:off x="259929" y="1286942"/>
            <a:ext cx="8572372" cy="3773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i="0" lang="en-US" sz="1600" u="none" cap="none" strike="noStrike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The dataset used is </a:t>
            </a: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“Amazon Sale Report (2024)”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, sourced from </a:t>
            </a: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Kaggle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 (by </a:t>
            </a:r>
            <a:r>
              <a:rPr i="1" lang="en-US" sz="1600">
                <a:latin typeface="Calibri"/>
                <a:ea typeface="Calibri"/>
                <a:cs typeface="Calibri"/>
                <a:sym typeface="Calibri"/>
              </a:rPr>
              <a:t>Ilhem Djenane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).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It contains </a:t>
            </a: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real-world Amazon sales transaction data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, providing detailed information on orders, products, fulfillment, shipping, and regional distribution.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Format: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 CSV</a:t>
            </a:r>
            <a:br>
              <a:rPr lang="en-US" sz="1600"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Rows: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 ~128,000</a:t>
            </a:r>
            <a:br>
              <a:rPr lang="en-US" sz="1600"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Columns: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 22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Key fields include </a:t>
            </a: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Order ID, Date, Status, Category, Quantity, Amount, Fulfilment Type, Courier Status, Promotion IDs, B2B, and Region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The dataset was collected to analyze </a:t>
            </a: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sales performance, regional trends, and the impact of promotions and fulfillment methods on revenue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The data is </a:t>
            </a: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structured, reliable, and suitable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 for data cleaning, exploratory analysis, visualization, and predictive modeling using Python.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1600" u="none" cap="none" strike="noStrike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4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Data Cleaning</a:t>
            </a:r>
            <a:endParaRPr b="1" sz="4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 txBox="1"/>
          <p:nvPr>
            <p:ph idx="1" type="body"/>
          </p:nvPr>
        </p:nvSpPr>
        <p:spPr>
          <a:xfrm>
            <a:off x="259928" y="1281937"/>
            <a:ext cx="8624143" cy="3277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Checked Missing Values: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Found ~6.8% missing, reduced to 3.7% after cleaning.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Removed Duplicates &amp; Unwanted Columns: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Dropped irrelevant fields like </a:t>
            </a:r>
            <a:r>
              <a:rPr i="1" lang="en-US">
                <a:latin typeface="Calibri"/>
                <a:ea typeface="Calibri"/>
                <a:cs typeface="Calibri"/>
                <a:sym typeface="Calibri"/>
              </a:rPr>
              <a:t>Order ID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>
                <a:latin typeface="Calibri"/>
                <a:ea typeface="Calibri"/>
                <a:cs typeface="Calibri"/>
                <a:sym typeface="Calibri"/>
              </a:rPr>
              <a:t>SKU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>
                <a:latin typeface="Calibri"/>
                <a:ea typeface="Calibri"/>
                <a:cs typeface="Calibri"/>
                <a:sym typeface="Calibri"/>
              </a:rPr>
              <a:t>B2B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, etc.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Handled Missing Data: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Filled missing currency with </a:t>
            </a:r>
            <a:r>
              <a:rPr i="1" lang="en-US">
                <a:latin typeface="Calibri"/>
                <a:ea typeface="Calibri"/>
                <a:cs typeface="Calibri"/>
                <a:sym typeface="Calibri"/>
              </a:rPr>
              <a:t>‘INR’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and Amount with </a:t>
            </a:r>
            <a:r>
              <a:rPr i="1" lang="en-US">
                <a:latin typeface="Calibri"/>
                <a:ea typeface="Calibri"/>
                <a:cs typeface="Calibri"/>
                <a:sym typeface="Calibri"/>
              </a:rPr>
              <a:t>0.0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.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Categorized Columns: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Identified numeric (Qty, Amount), categorical (Status, Category, etc.), and boolean (none).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Formatted Date Column: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Standardized date format for consistency.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Standardized Categorical Values: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Unified inconsistent entries (e.g., </a:t>
            </a:r>
            <a:r>
              <a:rPr i="1" lang="en-US">
                <a:latin typeface="Calibri"/>
                <a:ea typeface="Calibri"/>
                <a:cs typeface="Calibri"/>
                <a:sym typeface="Calibri"/>
              </a:rPr>
              <a:t>‘rajsthan’ → ‘Rajasthan’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).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Outlier Detection: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Used boxplots to visualize and assess outliers in numeric data.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4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 b="1" sz="4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 txBox="1"/>
          <p:nvPr>
            <p:ph idx="1" type="body"/>
          </p:nvPr>
        </p:nvSpPr>
        <p:spPr>
          <a:xfrm>
            <a:off x="259929" y="1273061"/>
            <a:ext cx="85725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Exploratory Data Analysis was conducted to understand data distribution and relationships.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Univariate analysis examined sales amount and quantity distributions.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Bivariate analysis explored relationships between quantity and sales amount.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Time-based analysis examined daily, monthly, and yearly order trends.</a:t>
            </a:r>
            <a:br>
              <a:rPr lang="en-US" sz="16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Geographic analysis assessed sales distribution across states.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These insights guided preprocessing and model selection.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 txBox="1"/>
          <p:nvPr>
            <p:ph type="title"/>
          </p:nvPr>
        </p:nvSpPr>
        <p:spPr>
          <a:xfrm>
            <a:off x="319134" y="19166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4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EDA: Key Visual Insights </a:t>
            </a:r>
            <a:endParaRPr b="1" sz="40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134" y="935541"/>
            <a:ext cx="4052144" cy="1703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7"/>
          <p:cNvPicPr preferRelativeResize="0"/>
          <p:nvPr/>
        </p:nvPicPr>
        <p:blipFill rotWithShape="1">
          <a:blip r:embed="rId4">
            <a:alphaModFix/>
          </a:blip>
          <a:srcRect b="0" l="0" r="0" t="2426"/>
          <a:stretch/>
        </p:blipFill>
        <p:spPr>
          <a:xfrm>
            <a:off x="4889184" y="1003610"/>
            <a:ext cx="3593176" cy="1607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7"/>
          <p:cNvPicPr preferRelativeResize="0"/>
          <p:nvPr/>
        </p:nvPicPr>
        <p:blipFill rotWithShape="1">
          <a:blip r:embed="rId5">
            <a:alphaModFix/>
          </a:blip>
          <a:srcRect b="0" l="0" r="0" t="2474"/>
          <a:stretch/>
        </p:blipFill>
        <p:spPr>
          <a:xfrm>
            <a:off x="500794" y="3044569"/>
            <a:ext cx="4578330" cy="1811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15567" y="2933236"/>
            <a:ext cx="3340414" cy="181897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7"/>
          <p:cNvSpPr txBox="1"/>
          <p:nvPr/>
        </p:nvSpPr>
        <p:spPr>
          <a:xfrm>
            <a:off x="788019" y="2672569"/>
            <a:ext cx="334041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Sales distribution is right-skewed</a:t>
            </a:r>
            <a:endParaRPr/>
          </a:p>
        </p:txBody>
      </p:sp>
      <p:sp>
        <p:nvSpPr>
          <p:cNvPr id="116" name="Google Shape;116;p7"/>
          <p:cNvSpPr txBox="1"/>
          <p:nvPr/>
        </p:nvSpPr>
        <p:spPr>
          <a:xfrm>
            <a:off x="5169972" y="2618447"/>
            <a:ext cx="30315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Most orders contain 1–2 items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788019" y="4752205"/>
            <a:ext cx="327685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Higher quantity → higher sales</a:t>
            </a:r>
            <a:endParaRPr/>
          </a:p>
        </p:txBody>
      </p:sp>
      <p:sp>
        <p:nvSpPr>
          <p:cNvPr id="118" name="Google Shape;118;p7"/>
          <p:cNvSpPr txBox="1"/>
          <p:nvPr/>
        </p:nvSpPr>
        <p:spPr>
          <a:xfrm>
            <a:off x="5233639" y="4752205"/>
            <a:ext cx="35509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Monthly trends show seasonal peaks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4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Data Preprocessing</a:t>
            </a:r>
            <a:endParaRPr b="1" sz="4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 txBox="1"/>
          <p:nvPr>
            <p:ph idx="1" type="body"/>
          </p:nvPr>
        </p:nvSpPr>
        <p:spPr>
          <a:xfrm>
            <a:off x="285814" y="1159045"/>
            <a:ext cx="8572500" cy="29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Data Standardization &amp; Type Conversion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Ship-State: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 Standardized various spellings for the same state (e.g., "Delhi", "delhi", "New Delhi" were all mapped to "Delhi").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Date: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 Converted the 'Date' column from an object/string to a datetime format for time-series analysis.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Feature Transformation &amp; Scaling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Applied </a:t>
            </a: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Label Encoding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 to all categorical variables.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Numerical columns were </a:t>
            </a: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not transformed or scaled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160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ad75a16ed_1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4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Model Building </a:t>
            </a:r>
            <a:endParaRPr b="1" sz="4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aad75a16ed_1_0"/>
          <p:cNvSpPr txBox="1"/>
          <p:nvPr>
            <p:ph idx="1" type="body"/>
          </p:nvPr>
        </p:nvSpPr>
        <p:spPr>
          <a:xfrm>
            <a:off x="311700" y="1084075"/>
            <a:ext cx="7946700" cy="39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Linear Regression (Baseline)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Model: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Ordinary Least Squares (OLS) chosen for interpretability.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Initial Results: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Poor performance with low R2 scores 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Non-Linear Models</a:t>
            </a:r>
            <a:endParaRPr b="1" sz="1400"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Strategy: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Deployed to capture complex data patterns beyond linear relationships.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Algorithms Used: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Decision Tree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Random Forest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Gradient Boosting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ad75a16ed_2_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4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Evaluation Metrics</a:t>
            </a:r>
            <a:endParaRPr b="1" sz="4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aad75a16ed_2_8"/>
          <p:cNvSpPr txBox="1"/>
          <p:nvPr>
            <p:ph idx="1" type="body"/>
          </p:nvPr>
        </p:nvSpPr>
        <p:spPr>
          <a:xfrm>
            <a:off x="0" y="1159050"/>
            <a:ext cx="90444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To assess the regression models' performance, the following statistical metrics were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used for accuracy and error rates: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g3aad75a16ed_2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0575" y="1972550"/>
            <a:ext cx="4763250" cy="264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ad75a16ed_2_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4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Business Metrics &amp; Insights</a:t>
            </a:r>
            <a:endParaRPr b="1" sz="4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aad75a16ed_2_20"/>
          <p:cNvSpPr txBox="1"/>
          <p:nvPr>
            <p:ph idx="1" type="body"/>
          </p:nvPr>
        </p:nvSpPr>
        <p:spPr>
          <a:xfrm>
            <a:off x="285825" y="1159050"/>
            <a:ext cx="8737800" cy="40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Targeted Promotional Efficiency: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Analysis confirms that while promotions drive sales, their effectiveness varies significantly by </a:t>
            </a: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Region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Product Category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. This indicates that inefficient campaigns should be replaced with targeted interventions on high-response segments to significantly improve ROI.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Strategic Shift: Dynamic Implementation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The business should shift from static discounting to </a:t>
            </a: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Dynamic Strategies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—such as adapting to seasonality and rotating focus to </a:t>
            </a: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"least sold" products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. This approach stimulates dormant demand and maximizes revenue without relying on aggressive, marginless discounts.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Operational Optimization: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Leveraging ML-driven insights for precise </a:t>
            </a: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Demand Forecasting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Inventory Management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allows the organization to optimize promotional budgets. This ensures that revenue quality is maximized while simultaneously reducing excess stock overhead.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231aedad0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4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Conclusion &amp; Future Steps</a:t>
            </a:r>
            <a:endParaRPr b="1" sz="4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b231aedad0_0_0"/>
          <p:cNvSpPr txBox="1"/>
          <p:nvPr>
            <p:ph idx="1" type="body"/>
          </p:nvPr>
        </p:nvSpPr>
        <p:spPr>
          <a:xfrm>
            <a:off x="285825" y="1159050"/>
            <a:ext cx="8605800" cy="43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Sales amount shows clear patterns across time, region, and order status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EDA identified skewed sales distribution and demand variations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Quantity and time features influence overall sales behavior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Regression modeling helped understand key sales drivers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Analysis supports data-driven business decision-making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Steps</a:t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 deeper category-wise and region-wise analysis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Include additional relevant features to improve model accuracy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advanced model tuning for better performance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 interactive dashboards for ongoing sales monitoring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7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L Them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2022-08-11T10:30:01Z</dcterms:created>
  <dc:creator>ramya ravikumar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553EDF02B0E14C5690C2C0E59FB72B48</vt:lpwstr>
  </property>
  <property fmtid="{D5CDD505-2E9C-101B-9397-08002B2CF9AE}" pid="3" name="KSOProductBuildVer">
    <vt:lpwstr>1033-11.2.0.11254</vt:lpwstr>
  </property>
</Properties>
</file>